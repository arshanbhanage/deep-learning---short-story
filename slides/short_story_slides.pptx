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926080"/>
            <a:ext cx="39319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Beyond LLMs:</a:t>
            </a:r>
            <a:br/>
            <a:r>
              <a:t>The Rise of Tabular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949E"/>
                </a:solidFill>
              </a:defRPr>
            </a:pPr>
            <a:r>
              <a:t>A deep dive into TabPFN-2.5 — the transformer that wants to replace XGBoost</a:t>
            </a:r>
            <a:br/>
            <a:br/>
            <a:r>
              <a:t>Arshan Bhanage  •  Deep Learning Short Story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Foundation models have revolutionized text (GPT), images (DALL·E), and code (Copilot)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But the most common data type in the real world is tabular data — spreadsheets, CSVs, database rows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XGBoost &amp; gradient-boosted trees have dominated tabular ML for a decade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Can foundation models finally challenge this dominance?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TabPFN-2.5 claims: YES — matching 4-hour AutoGluon ensembles in a single forward 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Tabular Data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Patient records, lab results, diagnoses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5603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Transactions, credit scores, risk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5603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Manufacturing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Sensor data, quality metrics, supply 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286000"/>
            <a:ext cx="25603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Retail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Customer data, purchases, 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</a:defRPr>
            </a:pPr>
            <a:r>
              <a:t>Tabular data powers virtually every business decision on the planet — any improvement has outsized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CFF"/>
                </a:solidFill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What Are Foundation Models?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A single model pre-trained on massive data that adapts to many downstream tasks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Text: GPT-4, Claude, Gemini — trained on internet text, generalize to any language task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Vision: CLIP, DALL·E — trained on image-text pairs, generalize to visual understanding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Key idea: learn general capabilities once, apply everywhere without retraining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The question: can this paradigm work for tabular data?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What Are Tabular Foundation Models?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56032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</a:defRPr>
            </a:pPr>
            <a:r>
              <a:t>Step 1: Pre-train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Train on millions of</a:t>
            </a:r>
            <a:br/>
            <a:r>
              <a:t>synthetic tabular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286000"/>
            <a:ext cx="256032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</a:defRPr>
            </a:pPr>
            <a:r>
              <a:t>Step 2: Learn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Model learns HOW to</a:t>
            </a:r>
            <a:br/>
            <a:r>
              <a:t>learn from any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56032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</a:defRPr>
            </a:pPr>
            <a:r>
              <a:t>Step 3: In-Context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Feed new data as context</a:t>
            </a:r>
            <a:br/>
            <a:r>
              <a:t>in a single forward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286000"/>
            <a:ext cx="256032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</a:defRPr>
            </a:pPr>
            <a:r>
              <a:t>Step 4: 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Output predictions with</a:t>
            </a:r>
            <a:br/>
            <a:r>
              <a:t>zero tuning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B949E"/>
                </a:solidFill>
              </a:defRPr>
            </a:pPr>
            <a:r>
              <a:t>Traditional ML learns parameters for YOUR data. A TFM has learned HOW to learn from ANY tabular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83E"/>
                </a:solidFill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Main Paper: TabPFN-2.5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883E"/>
                </a:solidFill>
              </a:defRPr>
            </a:pPr>
            <a:r>
              <a:t>TabPFN-2.5: Advancing the State of the Art in Tabular Foundation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</a:defRPr>
            </a:pPr>
            <a:r>
              <a:t>Yu, Jablonski, Hoo, Garg, Robertson, Bühler et al. — Prior Labs &amp; Univ. of Freiburg,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32004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TabPFN v1 (2022)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1K samples, 100 features</a:t>
            </a:r>
            <a:br/>
            <a:r>
              <a:t>Proof of concept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474720"/>
            <a:ext cx="32004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C8CFF"/>
                </a:solidFill>
              </a:defRPr>
            </a:pPr>
            <a:r>
              <a:t>TabPFNv2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06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10K samples, 500 features</a:t>
            </a:r>
            <a:br/>
            <a:r>
              <a:t>Competitive with XGBoost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474720"/>
            <a:ext cx="32004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TabPFN-2.5 (2025)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206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50K samples, 2K features</a:t>
            </a:r>
            <a:br/>
            <a:r>
              <a:t>Beats tuned XGBoost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 &amp;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Alternating Attention: row-wise (inter-sample) ↔ column-wise (inter-feature) layers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24 transformer layers for classification, 18 for regression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Feature Group Embeddings: groups of features embedded together → faster inference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64 'Thinking' Rows: learned dummy inputs as computational scratch space (inspired by CoT in LLMs)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Pre-trained on synthetic data; Real-TabPFN-2.5 fine-tuned on 43 curated real datasets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Distillation engines: convert to fast MLP or Tree Ensemble for production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Benchmarks &amp;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47472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TabArena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51 diverse real-world datasets</a:t>
            </a:r>
            <a:br/>
            <a:r>
              <a:t>Up to 100K rows, 2K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47472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C8CFF"/>
                </a:solidFill>
              </a:defRPr>
            </a:pPr>
            <a:r>
              <a:t>Internal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100+ proprietary datasets</a:t>
            </a:r>
            <a:br/>
            <a:r>
              <a:t>Healthcare, finance, manufacturing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47472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883E"/>
                </a:solidFill>
              </a:defRPr>
            </a:pPr>
            <a:r>
              <a:t>RealCause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</a:defRPr>
            </a:pPr>
            <a:r>
              <a:t>Causal inference benchmark</a:t>
            </a:r>
            <a:br/>
            <a:r>
              <a:t>Treatment effect estimation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9D1D9"/>
                </a:solidFill>
              </a:defRPr>
            </a:pPr>
            <a:r>
              <a:t>Classification: Accuracy, ROC AUC, Normalized Score (0–1 per dataset)</a:t>
            </a:r>
          </a:p>
          <a:p>
            <a:pPr>
              <a:spcAft>
                <a:spcPts val="800"/>
              </a:spcAft>
              <a:defRPr sz="1600">
                <a:solidFill>
                  <a:srgbClr val="C9D1D9"/>
                </a:solidFill>
              </a:defRPr>
            </a:pPr>
            <a:r>
              <a:t>Regression: RMSE, R²</a:t>
            </a:r>
          </a:p>
          <a:p>
            <a:pPr>
              <a:spcAft>
                <a:spcPts val="800"/>
              </a:spcAft>
              <a:defRPr sz="1600">
                <a:solidFill>
                  <a:srgbClr val="C9D1D9"/>
                </a:solidFill>
              </a:defRPr>
            </a:pPr>
            <a:r>
              <a:t>Causal Inference: PEHE (Precision in Estimating Heterogeneous Effects)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Results from the Paper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</a:defRPr>
            </a:pPr>
            <a:r>
              <a:t>TabPFN-2.5 (default) &gt; tuned XGBoost, CatBoost, LightGBM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Single forward pass, zero hyperparameter 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</a:defRPr>
            </a:pPr>
            <a:r>
              <a:t>TabPFN-2.5 ≈ AutoGluon 1.4 (4-hour extreme mode)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Matches a massive multi-model ensemble run for 4 hours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79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39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C8CFF"/>
                </a:solidFill>
              </a:defRPr>
            </a:pPr>
            <a:r>
              <a:t>Real-TabPFN-2.5 &gt;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Fine-tuned variant sets new SOTA on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59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406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83E"/>
                </a:solidFill>
              </a:defRPr>
            </a:pPr>
            <a:r>
              <a:t>Causal inference SOTA on RealCause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Best CATE estimation as T-Learner base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CFF"/>
                </a:solidFill>
              </a:defRPr>
            </a:pPr>
            <a: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Ablation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▸ Deeper network (24 layers)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</a:defRPr>
            </a:pPr>
            <a:r>
              <a:t>→ Better accuracy on complex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</a:defRPr>
            </a:pPr>
            <a:r>
              <a:t>▸ Larger feature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</a:defRPr>
            </a:pPr>
            <a:r>
              <a:t>→ Faster training &amp;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C8CFF"/>
                </a:solidFill>
              </a:defRPr>
            </a:pPr>
            <a:r>
              <a:t>▸ 64 'Thinking'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</a:defRPr>
            </a:pPr>
            <a:r>
              <a:t>→ Extra compute capacity — measurable gains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83E"/>
                </a:solidFill>
              </a:defRPr>
            </a:pPr>
            <a:r>
              <a:t>▸ Richer synthetic priors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</a:defRPr>
            </a:pPr>
            <a:r>
              <a:t>→ Better generalization to diverse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▸ Scale to 50K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2120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</a:defRPr>
            </a:pPr>
            <a:r>
              <a:t>→ 5× more real-world problems 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</a:defRPr>
            </a:pPr>
            <a:r>
              <a:t>▸ Real-data 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</a:defRPr>
            </a:pPr>
            <a:r>
              <a:t>→ Significant accuracy boost over synthetic-only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My Reproduction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</a:defRPr>
            </a:pPr>
            <a:r>
              <a:t>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Breast Cancer Wisconsin — 569 samples, 30 features, 2 classes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Wine — 178 samples, 13 features, 3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468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Logistic Regression (linear baseline)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Random Forest (200 trees)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XGBoost (200 estimators, lr=0.1)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TabPFN (16 estimators, GPU)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C8CFF"/>
                </a:solidFill>
              </a:defRPr>
            </a:pPr>
            <a:r>
              <a:t>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5-fold stratified cross-validation  •  Metrics: Accuracy &amp; Weighted F1  •  No hyperparameter tuning for any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My Reproduction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</a:defRPr>
            </a:pPr>
            <a:r>
              <a:t>Breast Cancer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Logistic Reg.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0.974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0632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0.954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0.963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</a:defRPr>
            </a:pPr>
            <a:r>
              <a:t>TabPFN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</a:defRPr>
            </a:pPr>
            <a:r>
              <a:t>0.977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C8CFF"/>
                </a:solidFill>
              </a:defRPr>
            </a:pPr>
            <a:r>
              <a:t>Wine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Logistic Reg.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0.983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632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0.978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</a:defRPr>
            </a:pPr>
            <a:r>
              <a:t>0.961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</a:defRPr>
            </a:pPr>
            <a:r>
              <a:t>TabPFN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</a:defRPr>
            </a:pPr>
            <a:r>
              <a:t>0.983 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</a:defRPr>
            </a:pPr>
            <a:r>
              <a:t>TabPFN achieves the highest accuracy on Breast Cancer and ties for the top on Wine — with zero tuning.</a:t>
            </a:r>
            <a:br/>
            <a:r>
              <a:t>Confirms paper's claim: tabular foundation models are strong defaults on small-to-medium datasets.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CFF"/>
                </a:solidFill>
              </a:defRPr>
            </a:pPr>
            <a: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What I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TabPFN-2.5 is not a toy — it's a practical tool ready to replace XGBoost as a default baseline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A single forward pass beating a 4-hour AutoGluon ensemble is genuinely remarkable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'Thinking rows' = chain-of-thought for tabular data — elegant cross-pollination from LLMs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The ecosystem (distillation, API, interpretability) matters as much as the model itself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We are witnessing convergence: text, vision, and now tabular all moving to foundation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83E"/>
                </a:solidFill>
              </a:defRPr>
            </a:pPr>
            <a: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Dataset size ceiling: 50K rows max — many production datasets have millions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GPU memory: 24-layer transformer on 50K rows needs serious hardware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Proprietary distillation: fast deployment engines are commercial, not open-source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Interpretability gap: tree models offer SHAP/feature importance; transformers are harder to inspect</a:t>
            </a:r>
          </a:p>
          <a:p>
            <a:pPr>
              <a:spcAft>
                <a:spcPts val="800"/>
              </a:spcAft>
              <a:defRPr sz="1800">
                <a:solidFill>
                  <a:srgbClr val="C9D1D9"/>
                </a:solidFill>
              </a:defRPr>
            </a:pPr>
            <a:r>
              <a:t>Not universal: on very large, well-tuned datasets, XGBoost ensembles may still compete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1188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</a:defRPr>
            </a:pPr>
            <a:r>
              <a:t>For Practitioners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</a:defRPr>
            </a:pPr>
            <a:r>
              <a:t>If your dataset has &lt; 50K rows, TabPFN should be your first model to 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515600" cy="1188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C8CFF"/>
                </a:solidFill>
              </a:defRPr>
            </a:pPr>
            <a:r>
              <a:t>For Researchers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</a:defRPr>
            </a:pPr>
            <a:r>
              <a:t>Can we scale to millions of rows? Combine tabular + text in one model?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515600" cy="1188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The Big Picture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</a:defRPr>
            </a:pPr>
            <a:r>
              <a:t>The age of tabular foundation models is here — XGBoost finally has serious competition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49E"/>
                </a:solidFill>
              </a:defRPr>
            </a:pPr>
            <a:r>
              <a:t>15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[1] Yu et al. (2025) TabPFN-2.5 — arXiv:2511.08667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[2] Hollmann et al. (2022) TabPFN — ICLR 2023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[3] Garg et al. (2025) Real-TabPFN — arXiv:2410.04145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[4] Chen &amp; Guestrin (2016) XGBoost — KDD 2016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[5] Erickson et al. (2020) AutoGluon-Tabular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[6] Erickson et al. (2025) TabArena benchmark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[7] Prokhorenkova et al. (2018) CatBoost — NeurIPS</a:t>
            </a:r>
          </a:p>
          <a:p>
            <a:pPr>
              <a:spcAft>
                <a:spcPts val="800"/>
              </a:spcAft>
              <a:defRPr sz="1500">
                <a:solidFill>
                  <a:srgbClr val="C9D1D9"/>
                </a:solidFill>
              </a:defRPr>
            </a:pPr>
            <a:r>
              <a:t>[8] Ke et al. (2017) LightGBM — NeurIPS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8A6FF"/>
                </a:solidFill>
              </a:defRPr>
            </a:pPr>
            <a:r>
              <a:t>github.com/ArshanBhanage/Deep-Learning---Short-Story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